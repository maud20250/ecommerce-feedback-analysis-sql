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65A82"/>
                </a:solidFill>
                <a:latin typeface="Arial"/>
              </a:rPr>
              <a:t>Average Rating by Product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527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Wireless
Headphones</c:v>
                  </c:pt>
                  <c:pt idx="1">
                    <c:v>Running
Shoes</c:v>
                  </c:pt>
                  <c:pt idx="2">
                    <c:v>Kitchen
Blender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4.67</c:v>
                </c:pt>
                <c:pt idx="1">
                  <c:v>4</c:v>
                </c:pt>
                <c:pt idx="2">
                  <c:v>3.67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65A82"/>
                </a:solidFill>
                <a:latin typeface="Arial"/>
              </a:rPr>
              <a:t>Overall Sentiment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bubble3D val="0"/>
            <c:spPr>
              <a:solidFill>
                <a:srgbClr val="F39C12"/>
              </a:solidFill>
              <a:effectLst/>
            </c:spPr>
          </c:dPt>
          <c:dPt>
            <c:idx val="2"/>
            <c:bubble3D val="0"/>
            <c:spPr>
              <a:solidFill>
                <a:srgbClr val="E74C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Positive (≥4)</c:v>
                </c:pt>
                <c:pt idx="1">
                  <c:v>Neutral (=3)</c:v>
                </c:pt>
                <c:pt idx="2">
                  <c:v>Negative (≤2)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65A82"/>
                </a:solidFill>
                <a:latin typeface="Arial"/>
              </a:rPr>
              <a:t>Complaint Keyword Frequency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late</c:v>
                  </c:pt>
                  <c:pt idx="1">
                    <c:v>average</c:v>
                  </c:pt>
                  <c:pt idx="2">
                    <c:v>poor</c:v>
                  </c:pt>
                  <c:pt idx="3">
                    <c:v>damaged</c:v>
                  </c:pt>
                  <c:pt idx="4">
                    <c:v>defective</c:v>
                  </c:pt>
                  <c:pt idx="5">
                    <c:v>broken</c:v>
                  </c:pt>
                  <c:pt idx="6">
                    <c:v>slow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65A82"/>
                </a:solidFill>
                <a:latin typeface="Arial"/>
              </a:rPr>
              <a:t>Satisfaction Rate by Category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Satisfaction Rate (%)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Appliances</c:v>
                  </c:pt>
                  <c:pt idx="1">
                    <c:v>Footwear</c:v>
                  </c:pt>
                  <c:pt idx="2">
                    <c:v>Electronics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67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1BFB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– PART 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Feedback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Parsing  ·  Integration  ·  Analytical Insights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514600"/>
            <a:ext cx="36576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7432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Billa  |  Willis College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1089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Diplôme en Analyse de données et IA  |  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100584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50292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" y="1207008"/>
            <a:ext cx="475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07899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813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diagram, normalized schema, keys &amp; indexes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4114800" cy="100584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94560"/>
            <a:ext cx="50292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" y="2395728"/>
            <a:ext cx="475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22677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– Data Parsing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67004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JSON / XML scripts, validation, error logging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383280"/>
            <a:ext cx="4114800" cy="100584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383280"/>
            <a:ext cx="50292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" y="3584448"/>
            <a:ext cx="475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34564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Top-Rated Products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85876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analysis, product ranking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1005840"/>
            <a:ext cx="4114800" cy="100584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1005840"/>
            <a:ext cx="50292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910328" y="1207008"/>
            <a:ext cx="475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0" y="107899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14813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frequency, flagged reviews by category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2194560"/>
            <a:ext cx="4114800" cy="100584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2194560"/>
            <a:ext cx="50292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910328" y="2395728"/>
            <a:ext cx="475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86400" y="22677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Trends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0" y="267004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Positive/Neutral/Negative classification, monthly trends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3383280"/>
            <a:ext cx="4114800" cy="100584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383280"/>
            <a:ext cx="50292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4910328" y="3584448"/>
            <a:ext cx="475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86400" y="34564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385876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improvements for the business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4572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560320" cy="1719072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00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(PK)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682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5234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560320" cy="4572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560320" cy="210312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1600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review_id (PK)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19842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(FK)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3682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(FK)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275234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 |  comments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31363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review_date  |  source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1005840"/>
            <a:ext cx="2560320" cy="45720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1463040"/>
            <a:ext cx="2560320" cy="1719072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1600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(PK)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19842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3682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75234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26080" y="1828800"/>
            <a:ext cx="365760" cy="0"/>
          </a:xfrm>
          <a:prstGeom prst="line">
            <a:avLst/>
          </a:prstGeom>
          <a:noFill/>
          <a:ln w="25400">
            <a:solidFill>
              <a:srgbClr val="21BFB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2160" y="1828800"/>
            <a:ext cx="457200" cy="0"/>
          </a:xfrm>
          <a:prstGeom prst="line">
            <a:avLst/>
          </a:prstGeom>
          <a:noFill/>
          <a:ln w="25400">
            <a:solidFill>
              <a:srgbClr val="21BFB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171907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1→N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06440" y="171907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N→1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160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normalized tables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480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performance indexes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4160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 DELETE CASCADE / SET NULL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4480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source column tracks data origin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– Data Parsing &amp;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4114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 —  customer_survey.csv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743200" cy="173736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4630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7-field presence check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86537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regex validation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226771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Rating range 1–5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6700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Date format YYYY-MM-DD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743200" cy="4114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960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 —  web_feedback.json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371600"/>
            <a:ext cx="2743200" cy="173736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55848" y="14630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Root array structure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5848" y="186537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Required key presence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55848" y="226771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Rating range 1–5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55848" y="26700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customer_id FK integrity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960120"/>
            <a:ext cx="2743200" cy="41148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960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 —  external_reviews.xml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371600"/>
            <a:ext cx="2743200" cy="173736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27648" y="14630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XML parse error trap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27648" y="186537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Element presence check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27648" y="226771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Rating range 1–5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27648" y="26700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customer_id FK integrity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246120"/>
            <a:ext cx="8595360" cy="16002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246120"/>
            <a:ext cx="73152" cy="1600200"/>
          </a:xfrm>
          <a:prstGeom prst="rect">
            <a:avLst/>
          </a:prstGeom>
          <a:solidFill>
            <a:srgbClr val="21BFB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3101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&amp; Import Logging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36576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parse_errors.log  →  Records every rejected row with row ID, source file, and error description (empty fields, invalid dates, FK violations, rating out of range).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40416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import_summary.log  →  Records row counts per table, insert totals, orphan review counts, duplicate detection results, and rating distribution after each run.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434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uses SELECT DISTINCT on (customer_id, source, comments) before every INSERT.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Top-Rated Products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394960" y="914400"/>
          <a:ext cx="35661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Complaints – Keyword Analysis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0" y="960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Product Category: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0" y="1371600"/>
            <a:ext cx="3383280" cy="86868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0" y="1371600"/>
            <a:ext cx="73152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562356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35240" y="14173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4.67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23560" y="18105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delays noted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2377440"/>
            <a:ext cx="3383280" cy="86868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0" y="2377440"/>
            <a:ext cx="73152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5623560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35240" y="242316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4.00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23560" y="28163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reported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0" y="3383280"/>
            <a:ext cx="3383280" cy="86868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0" y="3383280"/>
            <a:ext cx="73152" cy="8686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8" name="Text 15"/>
          <p:cNvSpPr/>
          <p:nvPr/>
        </p:nvSpPr>
        <p:spPr>
          <a:xfrm>
            <a:off x="5623560" y="3429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635240" y="3429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3.67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23560" y="38221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quality concern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74320" y="4206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Delivery speed is the #1 complaint across all categories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Classification &amp; Rating Trends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37160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reviews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1371600"/>
          </a:xfrm>
          <a:prstGeom prst="rect">
            <a:avLst/>
          </a:prstGeom>
          <a:solidFill>
            <a:srgbClr val="F39C1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05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0040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review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137160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005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12648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reviews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514600"/>
            <a:ext cx="8595360" cy="233172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14600"/>
            <a:ext cx="73152" cy="2331720"/>
          </a:xfrm>
          <a:prstGeom prst="rect">
            <a:avLst/>
          </a:prstGeom>
          <a:solidFill>
            <a:srgbClr val="21BFB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5786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 (GROUP BY month / quarter)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71800"/>
          <a:ext cx="8229600" cy="13716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data (CSV baseline)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+ External data (live import)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02920" y="45262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data volume grows, monthly/quarterly trends will reveal seasonal patterns and the impact of product improvements.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Satisfaction Scores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05840"/>
            <a:ext cx="2834640" cy="100584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35040" y="1005840"/>
            <a:ext cx="73152" cy="10058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4"/>
          <p:cNvSpPr/>
          <p:nvPr/>
        </p:nvSpPr>
        <p:spPr>
          <a:xfrm>
            <a:off x="6172200" y="1078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38160" y="10789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172200" y="14813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reviews rated ≥ 4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35040" y="2148840"/>
            <a:ext cx="2834640" cy="100584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35040" y="2148840"/>
            <a:ext cx="73152" cy="10058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2" name="Text 9"/>
          <p:cNvSpPr/>
          <p:nvPr/>
        </p:nvSpPr>
        <p:spPr>
          <a:xfrm>
            <a:off x="6172200" y="2221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38160" y="22219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172200" y="26243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3 reviews positive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3291840"/>
            <a:ext cx="2834640" cy="100584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35040" y="3291840"/>
            <a:ext cx="73152" cy="10058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3364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38160" y="33649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172200" y="37673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3 reviews positive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834640" cy="50292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914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Improve Delivery Speed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2834640" cy="237744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" y="15087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Audit logistics partners for all 3 regions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" y="225856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 monthly SLA targets (tracked in reviews table)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3008376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Alert when 'late' keyword &gt; 10% of monthly reviews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834640" cy="502920"/>
          </a:xfrm>
          <a:prstGeom prst="rect">
            <a:avLst/>
          </a:prstGeom>
          <a:solidFill>
            <a:srgbClr val="F39C1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914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Raise Appliance Quality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834640" cy="237744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10128" y="15087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Root-cause analysis on 'average quality' complaints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10128" y="225856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Supplier review for Kitchen Blender line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0128" y="3008376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Post-improvement survey to measure change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914400"/>
            <a:ext cx="2834640" cy="50292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914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Scale Data Collection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417320"/>
            <a:ext cx="2834640" cy="237744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81928" y="15087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Increase post-purchase survey volume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81928" y="225856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Integrate 2+ additional review platforms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81928" y="3008376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Automate monthly ingestion via parse_data_v2.py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3977640"/>
            <a:ext cx="8686800" cy="86868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977640"/>
            <a:ext cx="73152" cy="868680"/>
          </a:xfrm>
          <a:prstGeom prst="rect">
            <a:avLst/>
          </a:prstGeom>
          <a:solidFill>
            <a:srgbClr val="21BFBA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4041648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Electronics success shows that fast delivery + quality product = 100% satisfaction. Apply this formula to all categories.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1BFB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6576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801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Robust parsing scripts for CSV, JSON, and XML with full validation &amp; logging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Referential integrity enforced before every INSERT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66.7% of customers report positive experiences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Delivery speed identified as the #1 complaint across all categories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1089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Electronics (100%) leads satisfaction; Appliances (33%) needs improvement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5661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Trend analysis framework ready to scale with growing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251960"/>
            <a:ext cx="84124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4343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Billa  |  Willis College  |  May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 Part 2 – E-Commerce Feedback Analysis</dc:title>
  <dc:subject>PptxGenJS Presentation</dc:subject>
  <dc:creator>Jean Billa</dc:creator>
  <cp:lastModifiedBy>Jean Billa</cp:lastModifiedBy>
  <cp:revision>1</cp:revision>
  <dcterms:created xsi:type="dcterms:W3CDTF">2026-05-24T14:06:13Z</dcterms:created>
  <dcterms:modified xsi:type="dcterms:W3CDTF">2026-05-24T14:06:13Z</dcterms:modified>
</cp:coreProperties>
</file>